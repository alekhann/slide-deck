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43891200" cy="32918400"/>
  <p:notesSz cx="9239250" cy="11982450"/>
  <p:embeddedFontLst>
    <p:embeddedFont>
      <p:font typeface="Quattrocento" panose="02020502030000000404" pitchFamily="18" charset="0"/>
      <p:regular r:id="rId5"/>
      <p:bold r:id="rId6"/>
    </p:embeddedFont>
  </p:embeddedFontLst>
  <p:custDataLst>
    <p:tags r:id="rId7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088">
          <p15:clr>
            <a:srgbClr val="A4A3A4"/>
          </p15:clr>
        </p15:guide>
        <p15:guide id="2" pos="13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774">
          <p15:clr>
            <a:srgbClr val="A4A3A4"/>
          </p15:clr>
        </p15:guide>
        <p15:guide id="2" pos="29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/>
    <p:restoredTop sz="93654" autoAdjust="0"/>
  </p:normalViewPr>
  <p:slideViewPr>
    <p:cSldViewPr>
      <p:cViewPr varScale="1">
        <p:scale>
          <a:sx n="17" d="100"/>
          <a:sy n="17" d="100"/>
        </p:scale>
        <p:origin x="1896" y="10"/>
      </p:cViewPr>
      <p:guideLst>
        <p:guide orient="horz" pos="11088"/>
        <p:guide pos="13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3" d="100"/>
          <a:sy n="73" d="100"/>
        </p:scale>
        <p:origin x="3984" y="72"/>
      </p:cViewPr>
      <p:guideLst>
        <p:guide orient="horz" pos="3774"/>
        <p:guide pos="29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ableStyles" Target="tableStyles.xml"/><Relationship Id="rId5" Type="http://schemas.openxmlformats.org/officeDocument/2006/relationships/font" Target="fonts/font1.fntdata"/><Relationship Id="rId10" Type="http://schemas.openxmlformats.org/officeDocument/2006/relationships/theme" Target="theme/theme1.xml"/><Relationship Id="rId4" Type="http://schemas.openxmlformats.org/officeDocument/2006/relationships/handoutMaster" Target="handoutMasters/handout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02088" cy="59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84" tIns="57492" rIns="114984" bIns="57492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1149350">
              <a:defRPr sz="1500"/>
            </a:lvl1pPr>
          </a:lstStyle>
          <a:p>
            <a:endParaRPr lang="en-US" altLang="zh-CN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35575" y="0"/>
            <a:ext cx="4002088" cy="59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84" tIns="57492" rIns="114984" bIns="57492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1149350">
              <a:defRPr sz="1500"/>
            </a:lvl1pPr>
          </a:lstStyle>
          <a:p>
            <a:endParaRPr lang="en-US" altLang="zh-CN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11380788"/>
            <a:ext cx="4002088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84" tIns="57492" rIns="114984" bIns="57492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1149350">
              <a:defRPr sz="1500"/>
            </a:lvl1pPr>
          </a:lstStyle>
          <a:p>
            <a:endParaRPr lang="en-US" altLang="zh-CN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35575" y="11380788"/>
            <a:ext cx="4002088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84" tIns="57492" rIns="114984" bIns="57492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1149350">
              <a:defRPr sz="1500"/>
            </a:lvl1pPr>
          </a:lstStyle>
          <a:p>
            <a:fld id="{56A6134A-9986-4884-ADAB-C57241D32564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48627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83038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76" tIns="57487" rIns="114976" bIns="5748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1149350">
              <a:defRPr sz="1500"/>
            </a:lvl1pPr>
          </a:lstStyle>
          <a:p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41925" y="0"/>
            <a:ext cx="3983038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76" tIns="57487" rIns="114976" bIns="5748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1149350">
              <a:defRPr sz="1500"/>
            </a:lvl1pPr>
          </a:lstStyle>
          <a:p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82738" y="889000"/>
            <a:ext cx="6059487" cy="45450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57300" y="5732463"/>
            <a:ext cx="6708775" cy="533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76" tIns="57487" rIns="114976" bIns="5748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11363325"/>
            <a:ext cx="3983038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76" tIns="57487" rIns="114976" bIns="57487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1149350">
              <a:defRPr sz="1500"/>
            </a:lvl1pPr>
          </a:lstStyle>
          <a:p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41925" y="11363325"/>
            <a:ext cx="3983038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76" tIns="57487" rIns="114976" bIns="57487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1149350">
              <a:defRPr sz="1500"/>
            </a:lvl1pPr>
          </a:lstStyle>
          <a:p>
            <a:fld id="{23124DF2-DDA8-402F-81DD-AC1D1E5694AB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401942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defPPr>
              <a:defRPr kern="1200"/>
            </a:defPPr>
            <a:lvl1pPr defTabSz="114935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11493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114935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114935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114935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1149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1149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1149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1149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D5580D61-8B82-42C3-9A37-58134866DD67}" type="slidenum">
              <a:rPr lang="zh-CN" altLang="en-US" sz="1500"/>
              <a:t>1</a:t>
            </a:fld>
            <a:endParaRPr lang="en-US" altLang="zh-CN" sz="1500"/>
          </a:p>
        </p:txBody>
      </p:sp>
      <p:sp>
        <p:nvSpPr>
          <p:cNvPr id="3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>
            <a:defPPr>
              <a:defRPr kern="1200"/>
            </a:defPPr>
          </a:lstStyle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2123" y="10226675"/>
            <a:ext cx="37306957" cy="7054850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4245" y="18653125"/>
            <a:ext cx="30722711" cy="8413750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1660122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9" y="1317625"/>
            <a:ext cx="39502643" cy="5486400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4279" y="7680325"/>
            <a:ext cx="39502643" cy="21724938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430835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1" y="21153439"/>
            <a:ext cx="37306957" cy="6537325"/>
          </a:xfrm>
          <a:prstGeom prst="rect">
            <a:avLst/>
          </a:prstGeom>
        </p:spPr>
        <p:txBody>
          <a:bodyPr anchor="t"/>
          <a:lstStyle>
            <a:defPPr>
              <a:defRPr kern="1200"/>
            </a:defPPr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1" y="13952538"/>
            <a:ext cx="37306957" cy="7200900"/>
          </a:xfrm>
          <a:prstGeom prst="rect">
            <a:avLst/>
          </a:prstGeom>
        </p:spPr>
        <p:txBody>
          <a:bodyPr anchor="b"/>
          <a:lstStyle>
            <a:defPPr>
              <a:defRPr kern="1200"/>
            </a:defPPr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44965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9" y="1317625"/>
            <a:ext cx="39502643" cy="5486400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4279" y="7680325"/>
            <a:ext cx="19683588" cy="21724938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13334" y="7680325"/>
            <a:ext cx="19683589" cy="21724938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04973206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9" y="1317625"/>
            <a:ext cx="39502643" cy="5486400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278" y="7369176"/>
            <a:ext cx="19392900" cy="3070225"/>
          </a:xfrm>
          <a:prstGeom prst="rect">
            <a:avLst/>
          </a:prstGeom>
        </p:spPr>
        <p:txBody>
          <a:bodyPr anchor="b"/>
          <a:lstStyle>
            <a:defPPr>
              <a:defRPr kern="1200"/>
            </a:defPPr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278" y="10439401"/>
            <a:ext cx="19392900" cy="18965862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5555" y="7369176"/>
            <a:ext cx="19401368" cy="3070225"/>
          </a:xfrm>
          <a:prstGeom prst="rect">
            <a:avLst/>
          </a:prstGeom>
        </p:spPr>
        <p:txBody>
          <a:bodyPr anchor="b"/>
          <a:lstStyle>
            <a:defPPr>
              <a:defRPr kern="1200"/>
            </a:defPPr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5555" y="10439401"/>
            <a:ext cx="19401368" cy="18965862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059614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9" y="1317625"/>
            <a:ext cx="39502643" cy="5486400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4570457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098106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8" y="1311275"/>
            <a:ext cx="14439900" cy="5576888"/>
          </a:xfrm>
          <a:prstGeom prst="rect">
            <a:avLst/>
          </a:prstGeom>
        </p:spPr>
        <p:txBody>
          <a:bodyPr anchor="b"/>
          <a:lstStyle>
            <a:defPPr>
              <a:defRPr kern="1200"/>
            </a:defPPr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523" y="1311275"/>
            <a:ext cx="24536400" cy="28093988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278" y="6888163"/>
            <a:ext cx="14439900" cy="22517100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1175467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3545" y="23042564"/>
            <a:ext cx="26334157" cy="2720975"/>
          </a:xfrm>
          <a:prstGeom prst="rect">
            <a:avLst/>
          </a:prstGeom>
        </p:spPr>
        <p:txBody>
          <a:bodyPr anchor="b"/>
          <a:lstStyle>
            <a:defPPr>
              <a:defRPr kern="1200"/>
            </a:defPPr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3545" y="2941639"/>
            <a:ext cx="26334157" cy="19750088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3545" y="25763539"/>
            <a:ext cx="26334157" cy="3862387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395915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9" y="1317625"/>
            <a:ext cx="39502643" cy="5486400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4279" y="7680325"/>
            <a:ext cx="39502643" cy="21724938"/>
          </a:xfrm>
          <a:prstGeom prst="rect">
            <a:avLst/>
          </a:prstGeom>
        </p:spPr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382205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821968" y="1317625"/>
            <a:ext cx="9874956" cy="28087638"/>
          </a:xfrm>
          <a:prstGeom prst="rect">
            <a:avLst/>
          </a:prstGeom>
        </p:spPr>
        <p:txBody>
          <a:bodyPr vert="eaVert"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4278" y="1317625"/>
            <a:ext cx="29492222" cy="28087638"/>
          </a:xfrm>
          <a:prstGeom prst="rect">
            <a:avLst/>
          </a:prstGeom>
        </p:spPr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3151270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w picture"/>
          <p:cNvPicPr/>
          <p:nvPr/>
        </p:nvPicPr>
        <p:blipFill>
          <a:blip r:embed="rId13"/>
          <a:stretch>
            <a:fillRect/>
          </a:stretch>
        </p:blipFill>
        <p:spPr>
          <a:xfrm rot="16200000">
            <a:off x="-11074400" y="16459200"/>
            <a:ext cx="14274800" cy="3937000"/>
          </a:xfrm>
          <a:prstGeom prst="rect">
            <a:avLst/>
          </a:prstGeom>
        </p:spPr>
      </p:pic>
      <p:pic>
        <p:nvPicPr>
          <p:cNvPr id="3" name="New picture"/>
          <p:cNvPicPr/>
          <p:nvPr/>
        </p:nvPicPr>
        <p:blipFill>
          <a:blip r:embed="rId13"/>
          <a:stretch>
            <a:fillRect/>
          </a:stretch>
        </p:blipFill>
        <p:spPr>
          <a:xfrm rot="5400000">
            <a:off x="40690800" y="16459200"/>
            <a:ext cx="14274800" cy="3937000"/>
          </a:xfrm>
          <a:prstGeom prst="rect">
            <a:avLst/>
          </a:prstGeom>
        </p:spPr>
      </p:pic>
      <p:pic>
        <p:nvPicPr>
          <p:cNvPr id="4" name="New picture"/>
          <p:cNvPicPr/>
          <p:nvPr/>
        </p:nvPicPr>
        <p:blipFill>
          <a:blip r:embed="rId14"/>
          <a:stretch>
            <a:fillRect/>
          </a:stretch>
        </p:blipFill>
        <p:spPr>
          <a:xfrm>
            <a:off x="6946900" y="33426400"/>
            <a:ext cx="29997400" cy="1447800"/>
          </a:xfrm>
          <a:prstGeom prst="rect">
            <a:avLst/>
          </a:prstGeom>
        </p:spPr>
      </p:pic>
      <p:sp>
        <p:nvSpPr>
          <p:cNvPr id="5" name="New shape"/>
          <p:cNvSpPr/>
          <p:nvPr/>
        </p:nvSpPr>
        <p:spPr>
          <a:xfrm>
            <a:off x="6946900" y="33997900"/>
            <a:ext cx="219456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560">
                <a:solidFill>
                  <a:srgbClr val="808080"/>
                </a:solidFill>
              </a:rPr>
              <a:t>Template ID: ponderingpeacock  Size: 48x36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defPPr>
        <a:defRPr kern="1200"/>
      </a:defPPr>
      <a:lvl1pPr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2pPr>
      <a:lvl3pPr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3pPr>
      <a:lvl4pPr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4pPr>
      <a:lvl5pPr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5pPr>
      <a:lvl6pPr marL="457200"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6pPr>
      <a:lvl7pPr marL="914400"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7pPr>
      <a:lvl8pPr marL="1371600"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8pPr>
      <a:lvl9pPr marL="1828800"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9pPr>
    </p:titleStyle>
    <p:bodyStyle>
      <a:defPPr>
        <a:defRPr kern="1200"/>
      </a:defPPr>
      <a:lvl1pPr marL="1150938" indent="-1150938" algn="l" defTabSz="3074988" rtl="0" eaLnBrk="0" fontAlgn="base" hangingPunct="0">
        <a:spcBef>
          <a:spcPct val="20000"/>
        </a:spcBef>
        <a:spcAft>
          <a:spcPct val="0"/>
        </a:spcAft>
        <a:buChar char="•"/>
        <a:defRPr sz="10700">
          <a:solidFill>
            <a:schemeClr val="tx1"/>
          </a:solidFill>
          <a:latin typeface="+mn-lt"/>
          <a:ea typeface="+mn-ea"/>
          <a:cs typeface="+mn-cs"/>
        </a:defRPr>
      </a:lvl1pPr>
      <a:lvl2pPr marL="2497138" indent="-960438" algn="l" defTabSz="3074988" rtl="0" eaLnBrk="0" fontAlgn="base" hangingPunct="0">
        <a:spcBef>
          <a:spcPct val="20000"/>
        </a:spcBef>
        <a:spcAft>
          <a:spcPct val="0"/>
        </a:spcAft>
        <a:buChar char="–"/>
        <a:defRPr sz="9500">
          <a:solidFill>
            <a:schemeClr val="tx1"/>
          </a:solidFill>
          <a:latin typeface="+mn-lt"/>
        </a:defRPr>
      </a:lvl2pPr>
      <a:lvl3pPr marL="3843338" indent="-768350" algn="l" defTabSz="3074988" rtl="0" eaLnBrk="0" fontAlgn="base" hangingPunct="0">
        <a:spcBef>
          <a:spcPct val="20000"/>
        </a:spcBef>
        <a:spcAft>
          <a:spcPct val="0"/>
        </a:spcAft>
        <a:buChar char="•"/>
        <a:defRPr sz="8100">
          <a:solidFill>
            <a:schemeClr val="tx1"/>
          </a:solidFill>
          <a:latin typeface="+mn-lt"/>
        </a:defRPr>
      </a:lvl3pPr>
      <a:lvl4pPr marL="5384800" indent="-773113" algn="l" defTabSz="3074988" rtl="0" eaLnBrk="0" fontAlgn="base" hangingPunct="0">
        <a:spcBef>
          <a:spcPct val="20000"/>
        </a:spcBef>
        <a:spcAft>
          <a:spcPct val="0"/>
        </a:spcAft>
        <a:buChar char="–"/>
        <a:defRPr sz="6500">
          <a:solidFill>
            <a:schemeClr val="tx1"/>
          </a:solidFill>
          <a:latin typeface="+mn-lt"/>
        </a:defRPr>
      </a:lvl4pPr>
      <a:lvl5pPr marL="6921500" indent="-768350" algn="l" defTabSz="3074988" rtl="0" eaLnBrk="0" fontAlgn="base" hangingPunct="0">
        <a:spcBef>
          <a:spcPct val="20000"/>
        </a:spcBef>
        <a:spcAft>
          <a:spcPct val="0"/>
        </a:spcAft>
        <a:buChar char="»"/>
        <a:defRPr sz="6500">
          <a:solidFill>
            <a:schemeClr val="tx1"/>
          </a:solidFill>
          <a:latin typeface="+mn-lt"/>
        </a:defRPr>
      </a:lvl5pPr>
      <a:lvl6pPr marL="7378700" indent="-768350" algn="l" defTabSz="3074988" rtl="0" eaLnBrk="0" fontAlgn="base" hangingPunct="0">
        <a:spcBef>
          <a:spcPct val="20000"/>
        </a:spcBef>
        <a:spcAft>
          <a:spcPct val="0"/>
        </a:spcAft>
        <a:buChar char="»"/>
        <a:defRPr sz="6500">
          <a:solidFill>
            <a:schemeClr val="tx1"/>
          </a:solidFill>
          <a:latin typeface="+mn-lt"/>
        </a:defRPr>
      </a:lvl6pPr>
      <a:lvl7pPr marL="7835900" indent="-768350" algn="l" defTabSz="3074988" rtl="0" eaLnBrk="0" fontAlgn="base" hangingPunct="0">
        <a:spcBef>
          <a:spcPct val="20000"/>
        </a:spcBef>
        <a:spcAft>
          <a:spcPct val="0"/>
        </a:spcAft>
        <a:buChar char="»"/>
        <a:defRPr sz="6500">
          <a:solidFill>
            <a:schemeClr val="tx1"/>
          </a:solidFill>
          <a:latin typeface="+mn-lt"/>
        </a:defRPr>
      </a:lvl7pPr>
      <a:lvl8pPr marL="8293100" indent="-768350" algn="l" defTabSz="3074988" rtl="0" eaLnBrk="0" fontAlgn="base" hangingPunct="0">
        <a:spcBef>
          <a:spcPct val="20000"/>
        </a:spcBef>
        <a:spcAft>
          <a:spcPct val="0"/>
        </a:spcAft>
        <a:buChar char="»"/>
        <a:defRPr sz="6500">
          <a:solidFill>
            <a:schemeClr val="tx1"/>
          </a:solidFill>
          <a:latin typeface="+mn-lt"/>
        </a:defRPr>
      </a:lvl8pPr>
      <a:lvl9pPr marL="8750300" indent="-768350" algn="l" defTabSz="3074988" rtl="0" eaLnBrk="0" fontAlgn="base" hangingPunct="0">
        <a:spcBef>
          <a:spcPct val="20000"/>
        </a:spcBef>
        <a:spcAft>
          <a:spcPct val="0"/>
        </a:spcAft>
        <a:buChar char="»"/>
        <a:defRPr sz="6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solidFill>
          <a:srgbClr val="2D3C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41"/>
          <p:cNvSpPr txBox="1">
            <a:spLocks noChangeArrowheads="1"/>
          </p:cNvSpPr>
          <p:nvPr/>
        </p:nvSpPr>
        <p:spPr bwMode="auto">
          <a:xfrm>
            <a:off x="685800" y="685800"/>
            <a:ext cx="42519600" cy="6080622"/>
          </a:xfrm>
          <a:prstGeom prst="snip2DiagRect">
            <a:avLst/>
          </a:prstGeom>
          <a:solidFill>
            <a:srgbClr val="E64B3C"/>
          </a:solidFill>
          <a:ln w="25400">
            <a:noFill/>
            <a:miter lim="800000"/>
          </a:ln>
        </p:spPr>
        <p:txBody>
          <a:bodyPr lIns="61170" tIns="30584" rIns="61170" bIns="30584" anchor="ctr"/>
          <a:lstStyle>
            <a:defPPr>
              <a:defRPr kern="1200"/>
            </a:defPPr>
            <a:lvl1pPr defTabSz="612775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612775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612775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612775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612775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endParaRPr lang="en-US" altLang="zh-CN" sz="4200" b="1" i="1" u="sng">
              <a:solidFill>
                <a:schemeClr val="bg1"/>
              </a:solidFill>
              <a:latin typeface="Arial"/>
              <a:ea typeface="SimSun" pitchFamily="2" charset="-122"/>
            </a:endParaRPr>
          </a:p>
        </p:txBody>
      </p:sp>
      <p:sp>
        <p:nvSpPr>
          <p:cNvPr id="70" name="Text Placeholder 5">
            <a:extLst>
              <a:ext uri="{FF2B5EF4-FFF2-40B4-BE49-F238E27FC236}">
                <a16:creationId xmlns:a16="http://schemas.microsoft.com/office/drawing/2014/main" id="{425621FB-070F-446E-BA36-4A66EBF8DEF2}"/>
              </a:ext>
            </a:extLst>
          </p:cNvPr>
          <p:cNvSpPr txBox="1"/>
          <p:nvPr/>
        </p:nvSpPr>
        <p:spPr>
          <a:xfrm>
            <a:off x="3657600" y="2570583"/>
            <a:ext cx="36576000" cy="420953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defPPr>
              <a:defRPr kern="1200"/>
            </a:defPPr>
            <a:lvl1pPr marL="0" marR="0" indent="0" algn="l" defTabSz="37830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761086">
              <a:spcBef>
                <a:spcPct val="20000"/>
              </a:spcBef>
              <a:defRPr/>
            </a:pPr>
            <a:r>
              <a:rPr lang="en-US" sz="96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Slide Deck : Multi-Agent Framework for Automated Presentation Generator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24D4BC5-5256-4C2E-B3FB-87EA69B63AF3}"/>
              </a:ext>
            </a:extLst>
          </p:cNvPr>
          <p:cNvSpPr/>
          <p:nvPr/>
        </p:nvSpPr>
        <p:spPr>
          <a:xfrm>
            <a:off x="660482" y="8000999"/>
            <a:ext cx="10058400" cy="90009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r>
              <a:rPr lang="en-US" sz="6600" b="1" dirty="0">
                <a:solidFill>
                  <a:schemeClr val="tx1"/>
                </a:solidFill>
                <a:effectLst/>
                <a:latin typeface="+mj-lt"/>
              </a:rPr>
              <a:t>The project introduces an automated multi-agent system that converts research papers into clean, accurate presentation slides.</a:t>
            </a:r>
          </a:p>
        </p:txBody>
      </p:sp>
      <p:sp>
        <p:nvSpPr>
          <p:cNvPr id="74" name="Rectangle 10">
            <a:extLst>
              <a:ext uri="{FF2B5EF4-FFF2-40B4-BE49-F238E27FC236}">
                <a16:creationId xmlns:a16="http://schemas.microsoft.com/office/drawing/2014/main" id="{4EDA12B6-07B5-44F9-8F8B-E1BE66469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82" y="7471321"/>
            <a:ext cx="10058400" cy="873301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3684A0"/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kern="1200"/>
            </a:defPPr>
          </a:lstStyle>
          <a:p>
            <a:pPr defTabSz="4702588">
              <a:defRPr/>
            </a:pPr>
            <a:r>
              <a:rPr lang="en-US" sz="72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Abstract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F831EE1-8866-4A3E-8CAB-8624A11FF145}"/>
              </a:ext>
            </a:extLst>
          </p:cNvPr>
          <p:cNvSpPr/>
          <p:nvPr/>
        </p:nvSpPr>
        <p:spPr>
          <a:xfrm>
            <a:off x="11488502" y="8000999"/>
            <a:ext cx="10058400" cy="2423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r>
              <a:rPr lang="en-US" sz="6600" b="1" dirty="0">
                <a:solidFill>
                  <a:schemeClr val="tx1"/>
                </a:solidFill>
                <a:effectLst/>
                <a:latin typeface="+mj-lt"/>
              </a:rPr>
              <a:t>The system uses a multi-agent pipeline that parses research papers, extracts key ideas and visuals, and verifies their correctness. A generation agent then transforms the refined content into coherent, slide-ready material, ensuring relevance and clarity in the final presentation.</a:t>
            </a:r>
          </a:p>
          <a:p>
            <a:pPr algn="ctr"/>
            <a:endParaRPr lang="en-US" sz="6600" b="1" dirty="0">
              <a:solidFill>
                <a:schemeClr val="tx1"/>
              </a:solidFill>
              <a:effectLst/>
              <a:latin typeface="+mj-lt"/>
            </a:endParaRPr>
          </a:p>
          <a:p>
            <a:pPr algn="ctr"/>
            <a:endParaRPr lang="en-US" sz="6600" b="1" dirty="0">
              <a:solidFill>
                <a:schemeClr val="tx1"/>
              </a:solidFill>
              <a:effectLst/>
              <a:latin typeface="+mj-lt"/>
            </a:endParaRPr>
          </a:p>
          <a:p>
            <a:pPr algn="ctr"/>
            <a:endParaRPr lang="en-US" sz="7200" b="1" dirty="0">
              <a:solidFill>
                <a:schemeClr val="tx1"/>
              </a:solidFill>
              <a:effectLst/>
              <a:latin typeface="+mj-lt"/>
            </a:endParaRPr>
          </a:p>
          <a:p>
            <a:pPr algn="ctr"/>
            <a:endParaRPr lang="en-US" sz="7200" b="1" dirty="0">
              <a:solidFill>
                <a:schemeClr val="tx1"/>
              </a:solidFill>
              <a:effectLst/>
              <a:latin typeface="+mj-lt"/>
            </a:endParaRPr>
          </a:p>
          <a:p>
            <a:pPr algn="ctr"/>
            <a:endParaRPr lang="en-US" sz="7200" b="1" dirty="0">
              <a:solidFill>
                <a:schemeClr val="tx1"/>
              </a:solidFill>
              <a:effectLst/>
              <a:latin typeface="+mj-lt"/>
            </a:endParaRPr>
          </a:p>
          <a:p>
            <a:pPr algn="ctr"/>
            <a:endParaRPr lang="en-US" sz="7200" b="1" dirty="0">
              <a:solidFill>
                <a:schemeClr val="tx1"/>
              </a:solidFill>
              <a:effectLst/>
              <a:latin typeface="+mj-lt"/>
            </a:endParaRPr>
          </a:p>
          <a:p>
            <a:pPr algn="ctr"/>
            <a:endParaRPr lang="en-US" sz="7200" b="1" dirty="0">
              <a:solidFill>
                <a:schemeClr val="tx1"/>
              </a:solidFill>
              <a:effectLst/>
              <a:latin typeface="+mj-lt"/>
            </a:endParaRPr>
          </a:p>
          <a:p>
            <a:pPr algn="ctr"/>
            <a:endParaRPr lang="en-US" sz="7200" b="1" dirty="0">
              <a:solidFill>
                <a:schemeClr val="tx1"/>
              </a:solidFill>
              <a:effectLst/>
              <a:latin typeface="+mj-lt"/>
            </a:endParaRPr>
          </a:p>
          <a:p>
            <a:pPr algn="ctr"/>
            <a:endParaRPr lang="en-US" sz="7200" b="1" dirty="0"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81" name="Rectangle 10">
            <a:extLst>
              <a:ext uri="{FF2B5EF4-FFF2-40B4-BE49-F238E27FC236}">
                <a16:creationId xmlns:a16="http://schemas.microsoft.com/office/drawing/2014/main" id="{868B6862-5CC5-4906-AC03-EA9661AD1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88502" y="7471321"/>
            <a:ext cx="10058400" cy="873301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664F93"/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kern="1200"/>
            </a:defPPr>
          </a:lstStyle>
          <a:p>
            <a:pPr defTabSz="4702588">
              <a:defRPr/>
            </a:pPr>
            <a:r>
              <a:rPr lang="en-US" sz="72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Methodology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026A6A3-D6D2-4951-8B04-EF51015D25DB}"/>
              </a:ext>
            </a:extLst>
          </p:cNvPr>
          <p:cNvSpPr/>
          <p:nvPr/>
        </p:nvSpPr>
        <p:spPr>
          <a:xfrm>
            <a:off x="22316522" y="8000999"/>
            <a:ext cx="10058400" cy="2423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 dirty="0">
              <a:latin typeface="+mj-lt"/>
            </a:endParaRPr>
          </a:p>
        </p:txBody>
      </p:sp>
      <p:sp>
        <p:nvSpPr>
          <p:cNvPr id="84" name="Rectangle 10">
            <a:extLst>
              <a:ext uri="{FF2B5EF4-FFF2-40B4-BE49-F238E27FC236}">
                <a16:creationId xmlns:a16="http://schemas.microsoft.com/office/drawing/2014/main" id="{3D96BB99-3F6E-4E73-BA6B-A122D83B1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16522" y="7471321"/>
            <a:ext cx="10058400" cy="873301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664F93"/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kern="1200"/>
            </a:defPPr>
          </a:lstStyle>
          <a:p>
            <a:pPr defTabSz="4702588">
              <a:defRPr/>
            </a:pPr>
            <a:r>
              <a:rPr lang="en-US" sz="72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Results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19BFD724-D51D-4DD6-A93A-40ABEA405C90}"/>
              </a:ext>
            </a:extLst>
          </p:cNvPr>
          <p:cNvSpPr/>
          <p:nvPr/>
        </p:nvSpPr>
        <p:spPr>
          <a:xfrm>
            <a:off x="33144541" y="8000999"/>
            <a:ext cx="10058400" cy="2423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r>
              <a:rPr lang="en-US" sz="6600" b="1" dirty="0">
                <a:solidFill>
                  <a:schemeClr val="tx1"/>
                </a:solidFill>
                <a:effectLst/>
                <a:latin typeface="+mj-lt"/>
              </a:rPr>
              <a:t>Key Findings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600" b="1" dirty="0">
                <a:solidFill>
                  <a:schemeClr val="tx1"/>
                </a:solidFill>
                <a:effectLst/>
                <a:latin typeface="+mj-lt"/>
              </a:rPr>
              <a:t>95% reduction in manual effort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600" b="1" dirty="0">
                <a:solidFill>
                  <a:schemeClr val="tx1"/>
                </a:solidFill>
                <a:effectLst/>
                <a:latin typeface="+mj-lt"/>
              </a:rPr>
              <a:t>10x faster than manual slide creation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600" b="1" dirty="0">
                <a:solidFill>
                  <a:schemeClr val="tx1"/>
                </a:solidFill>
                <a:effectLst/>
                <a:latin typeface="+mj-lt"/>
              </a:rPr>
              <a:t>85-90%+ accuracy with fact verification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600" b="1" dirty="0">
                <a:solidFill>
                  <a:schemeClr val="tx1"/>
                </a:solidFill>
                <a:effectLst/>
                <a:latin typeface="+mj-lt"/>
              </a:rPr>
              <a:t>Intelligent figure matching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600" b="1" dirty="0">
                <a:solidFill>
                  <a:schemeClr val="tx1"/>
                </a:solidFill>
                <a:effectLst/>
                <a:latin typeface="+mj-lt"/>
              </a:rPr>
              <a:t>Multi-agent collaboration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endParaRPr lang="en-US" sz="6600" b="1" dirty="0">
              <a:solidFill>
                <a:schemeClr val="tx1"/>
              </a:solidFill>
              <a:effectLst/>
              <a:latin typeface="+mj-lt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endParaRPr lang="en-US" sz="6600" b="1" dirty="0">
              <a:solidFill>
                <a:schemeClr val="tx1"/>
              </a:solidFill>
              <a:effectLst/>
              <a:latin typeface="+mj-lt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endParaRPr lang="en-US" sz="6600" b="1" dirty="0">
              <a:solidFill>
                <a:schemeClr val="tx1"/>
              </a:solidFill>
              <a:effectLst/>
              <a:latin typeface="+mj-lt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endParaRPr lang="en-US" sz="6600" b="1" dirty="0">
              <a:solidFill>
                <a:schemeClr val="tx1"/>
              </a:solidFill>
              <a:effectLst/>
              <a:latin typeface="+mj-lt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endParaRPr lang="en-US" sz="6600" b="1" dirty="0">
              <a:solidFill>
                <a:schemeClr val="tx1"/>
              </a:solidFill>
              <a:effectLst/>
              <a:latin typeface="+mj-lt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endParaRPr lang="en-US" sz="6600" b="1" dirty="0">
              <a:solidFill>
                <a:schemeClr val="tx1"/>
              </a:solidFill>
              <a:effectLst/>
              <a:latin typeface="+mj-lt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endParaRPr lang="en-US" sz="6600" b="1" dirty="0">
              <a:solidFill>
                <a:schemeClr val="tx1"/>
              </a:solidFill>
              <a:effectLst/>
              <a:latin typeface="+mj-lt"/>
            </a:endParaRPr>
          </a:p>
          <a:p>
            <a:pPr marL="857250" indent="-857250" algn="ctr">
              <a:buFontTx/>
              <a:buChar char="-"/>
            </a:pPr>
            <a:endParaRPr lang="en-US" sz="6600" b="1" dirty="0">
              <a:solidFill>
                <a:schemeClr val="tx1"/>
              </a:solidFill>
              <a:effectLst/>
              <a:latin typeface="+mj-lt"/>
            </a:endParaRPr>
          </a:p>
          <a:p>
            <a:pPr marL="857250" indent="-857250" algn="ctr">
              <a:buFontTx/>
              <a:buChar char="-"/>
            </a:pPr>
            <a:endParaRPr lang="en-US" sz="6600" b="1" dirty="0">
              <a:solidFill>
                <a:schemeClr val="tx1"/>
              </a:solidFill>
              <a:effectLst/>
              <a:latin typeface="+mj-lt"/>
            </a:endParaRPr>
          </a:p>
          <a:p>
            <a:pPr marL="857250" indent="-857250" algn="ctr">
              <a:buFontTx/>
              <a:buChar char="-"/>
            </a:pPr>
            <a:endParaRPr lang="en-US" sz="6600" b="1" dirty="0">
              <a:solidFill>
                <a:schemeClr val="tx1"/>
              </a:solidFill>
              <a:effectLst/>
              <a:latin typeface="+mj-lt"/>
            </a:endParaRPr>
          </a:p>
          <a:p>
            <a:pPr marL="857250" indent="-857250" algn="ctr">
              <a:buFontTx/>
              <a:buChar char="-"/>
            </a:pPr>
            <a:endParaRPr lang="en-US" sz="6600" b="1" dirty="0">
              <a:solidFill>
                <a:schemeClr val="tx1"/>
              </a:solidFill>
              <a:effectLst/>
              <a:latin typeface="+mj-lt"/>
            </a:endParaRPr>
          </a:p>
          <a:p>
            <a:pPr marL="857250" indent="-857250" algn="ctr">
              <a:buFontTx/>
              <a:buChar char="-"/>
            </a:pPr>
            <a:endParaRPr lang="en-US" sz="6600" b="1" dirty="0"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87" name="Rectangle 10">
            <a:extLst>
              <a:ext uri="{FF2B5EF4-FFF2-40B4-BE49-F238E27FC236}">
                <a16:creationId xmlns:a16="http://schemas.microsoft.com/office/drawing/2014/main" id="{0BE282AE-183A-4D49-B152-23A5A101B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4541" y="7471321"/>
            <a:ext cx="10058400" cy="873301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3684A0"/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kern="1200"/>
            </a:defPPr>
          </a:lstStyle>
          <a:p>
            <a:pPr defTabSz="4702588">
              <a:defRPr/>
            </a:pPr>
            <a:r>
              <a:rPr lang="en-US" sz="72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Conclusion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236036AE-C83F-4AC9-800C-C6574727635F}"/>
              </a:ext>
            </a:extLst>
          </p:cNvPr>
          <p:cNvSpPr/>
          <p:nvPr/>
        </p:nvSpPr>
        <p:spPr>
          <a:xfrm>
            <a:off x="660482" y="18211800"/>
            <a:ext cx="10058400" cy="14020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r>
              <a:rPr lang="en-US" sz="6600" b="1" dirty="0">
                <a:solidFill>
                  <a:schemeClr val="tx1"/>
                </a:solidFill>
                <a:effectLst/>
                <a:latin typeface="+mj-lt"/>
              </a:rPr>
              <a:t>This project automates the transformation of research papers into structured, accurate slide decks using a coordinated multi-agent pipeline for text extraction, verification, and figure retrieval</a:t>
            </a:r>
            <a:r>
              <a:rPr lang="en-US" sz="7200" b="1" dirty="0">
                <a:solidFill>
                  <a:schemeClr val="tx1"/>
                </a:solidFill>
                <a:effectLst/>
                <a:latin typeface="+mj-lt"/>
              </a:rPr>
              <a:t>.</a:t>
            </a:r>
          </a:p>
        </p:txBody>
      </p:sp>
      <p:sp>
        <p:nvSpPr>
          <p:cNvPr id="90" name="Rectangle 10">
            <a:extLst>
              <a:ext uri="{FF2B5EF4-FFF2-40B4-BE49-F238E27FC236}">
                <a16:creationId xmlns:a16="http://schemas.microsoft.com/office/drawing/2014/main" id="{8C463412-CC68-4A0F-AE72-68EF99EB2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82" y="17769977"/>
            <a:ext cx="10058400" cy="873301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664F93"/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kern="1200"/>
            </a:defPPr>
          </a:lstStyle>
          <a:p>
            <a:pPr defTabSz="4702588">
              <a:defRPr/>
            </a:pPr>
            <a:r>
              <a:rPr lang="en-US" sz="72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Introduction</a:t>
            </a:r>
          </a:p>
        </p:txBody>
      </p:sp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310CEF7C-3FB8-9D3C-9CA9-D098920EFE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3722" y="8763119"/>
            <a:ext cx="9144000" cy="7696081"/>
          </a:xfrm>
          <a:prstGeom prst="rect">
            <a:avLst/>
          </a:prstGeom>
        </p:spPr>
      </p:pic>
      <p:pic>
        <p:nvPicPr>
          <p:cNvPr id="9" name="Picture 8" descr="A screenshot of a graph&#10;&#10;AI-generated content may be incorrect.">
            <a:extLst>
              <a:ext uri="{FF2B5EF4-FFF2-40B4-BE49-F238E27FC236}">
                <a16:creationId xmlns:a16="http://schemas.microsoft.com/office/drawing/2014/main" id="{1538E4BD-CE7F-7A4C-90F2-C98B40B5395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6521" y="16489680"/>
            <a:ext cx="9621603" cy="8173832"/>
          </a:xfrm>
          <a:prstGeom prst="rect">
            <a:avLst/>
          </a:prstGeom>
        </p:spPr>
      </p:pic>
      <p:pic>
        <p:nvPicPr>
          <p:cNvPr id="18" name="Picture 17" descr="A table with text and numbers&#10;&#10;AI-generated content may be incorrect.">
            <a:extLst>
              <a:ext uri="{FF2B5EF4-FFF2-40B4-BE49-F238E27FC236}">
                <a16:creationId xmlns:a16="http://schemas.microsoft.com/office/drawing/2014/main" id="{F8A0F8CB-3F81-D2FD-EAB3-1BCAF2DF84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16622" y="25447079"/>
            <a:ext cx="8458200" cy="547675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3A3A0F3-6E5F-050A-6A41-A479765623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28000" y="20513040"/>
            <a:ext cx="8458200" cy="47244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5F93603-2447-9689-0BD0-D3012A9923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28000" y="25735088"/>
            <a:ext cx="9144000" cy="5188748"/>
          </a:xfrm>
          <a:prstGeom prst="rect">
            <a:avLst/>
          </a:prstGeom>
        </p:spPr>
      </p:pic>
      <p:pic>
        <p:nvPicPr>
          <p:cNvPr id="3" name="Picture 2" descr="A diagram of a process&#10;&#10;AI-generated content may be incorrect.">
            <a:extLst>
              <a:ext uri="{FF2B5EF4-FFF2-40B4-BE49-F238E27FC236}">
                <a16:creationId xmlns:a16="http://schemas.microsoft.com/office/drawing/2014/main" id="{497257F9-AB92-9C8B-125E-71C06E2DC3D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6142" y="20396312"/>
            <a:ext cx="9753600" cy="11509626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ponderingpeacock|08-2022"/>
</p:tagLst>
</file>

<file path=ppt/theme/theme1.xml><?xml version="1.0" encoding="utf-8"?>
<a:theme xmlns:a="http://schemas.openxmlformats.org/drawingml/2006/main" name="Default Design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Default Design">
      <a:majorFont>
        <a:latin typeface="Times New Roman"/>
        <a:ea typeface="Arial"/>
        <a:cs typeface="Arial"/>
      </a:majorFont>
      <a:minorFont>
        <a:latin typeface="Times New Roman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1970</TotalTime>
  <Words>132</Words>
  <Application>Microsoft Office PowerPoint</Application>
  <PresentationFormat>Custom</PresentationFormat>
  <Paragraphs>33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Quattrocento</vt:lpstr>
      <vt:lpstr>Times New Roman</vt:lpstr>
      <vt:lpstr>Default Design</vt:lpstr>
      <vt:lpstr>PowerPoint Presentation</vt:lpstr>
    </vt:vector>
  </TitlesOfParts>
  <Company>Graphicsland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 for a scientific poster</dc:title>
  <dc:subject>Free Poster Presentation Example</dc:subject>
  <dc:creator>Graphicsland/MakeSigns.com</dc:creator>
  <cp:keywords>scientific, research, template, custom, poster, presentation, symposium, printing, PowerPoint, create, design, example, sample, download</cp:keywords>
  <dc:description>This is a free template from MakeSigns.com to help you create the perfect scientific poster.</dc:description>
  <cp:lastModifiedBy>Ali Raza Khan</cp:lastModifiedBy>
  <cp:revision>104</cp:revision>
  <cp:lastPrinted>2000-08-03T00:31:24Z</cp:lastPrinted>
  <dcterms:modified xsi:type="dcterms:W3CDTF">2025-11-30T08:02:09Z</dcterms:modified>
  <cp:category>research posters template</cp:category>
</cp:coreProperties>
</file>